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app_icon_style_graphic_on_a_white_rounded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566928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1234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SPARKS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4864608" y="20574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8A6A6"/>
                </a:solidFill>
              </a:rPr>
              <a:t>Sequential Pilot-point Assisted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A6A6"/>
                </a:solidFill>
              </a:rPr>
              <a:t>Random-path Kriging and Simulation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864608" y="3072384"/>
            <a:ext cx="521208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2040" y="3429000"/>
            <a:ext cx="61722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324A"/>
                </a:solidFill>
              </a:rPr>
              <a:t>A Fortran command-line engine for reproducible spatial estimation, block kriging, co-kriging, external-drift workflows, and sequential Gaussian simulation.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892040" y="46177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0E5A8A">
              <a:alpha val="92000"/>
            </a:srgbClr>
          </a:solidFill>
          <a:ln w="12700">
            <a:solidFill>
              <a:srgbClr val="0E5A8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74336" y="4686300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Fortran core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63640" y="46177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8A6A6">
              <a:alpha val="92000"/>
            </a:srgbClr>
          </a:solidFill>
          <a:ln w="12700">
            <a:solidFill>
              <a:srgbClr val="18A6A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45936" y="46863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OpenMP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06640" y="4617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5A623">
              <a:alpha val="92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88936" y="468630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 + namelist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098280" y="46177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5A8A">
              <a:alpha val="92000"/>
            </a:srgbClr>
          </a:solidFill>
          <a:ln w="12700">
            <a:solidFill>
              <a:srgbClr val="0E5A8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0576" y="468630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SGSIM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Source basis: pyKriging README and SPARKS source, accessed May 2026.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SPARKS?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A compact executable for large, repeatable geostatistical runs.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F8FBFD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66"/>
                </a:solidFill>
              </a:rPr>
              <a:t>Typical workflow pain points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60120" y="2295144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240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3D66"/>
                </a:solidFill>
              </a:rPr>
              <a:t>Large grids make interactive tools slow or hard to automate.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2843784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788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3D66"/>
                </a:solidFill>
              </a:rPr>
              <a:t>Simulation needs reproducible random paths and samples.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3392424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337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3D66"/>
                </a:solidFill>
              </a:rPr>
              <a:t>Block / pilot-point workflows need clear file I/O.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3941064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886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3D66"/>
                </a:solidFill>
              </a:rPr>
              <a:t>Debugging kriging matrices and weights should be transparent.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5FBFA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01168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2139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obs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201168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2139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vgm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201168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2139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grid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2267712"/>
            <a:ext cx="68580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321040" y="2267712"/>
            <a:ext cx="68580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18120" y="3246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3374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solve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45168" y="2514600"/>
            <a:ext cx="-1024128" cy="73152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65008" y="2514600"/>
            <a:ext cx="0" cy="64008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44348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8856" y="4517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66"/>
                </a:solidFill>
              </a:rPr>
              <a:t>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823960" y="443484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0536" y="4517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66"/>
                </a:solidFill>
              </a:rPr>
              <a:t>sim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18120" y="3703320"/>
            <a:ext cx="-685800" cy="68580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321040" y="3703320"/>
            <a:ext cx="594360" cy="68580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0080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</a:rPr>
              <a:t>SPARKS wraps the full run as a deterministic, scriptable command.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SPARKS source documents: parse files → set_vgm/set_obs/set_grid/set_sim/set_search → solve → write output.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functionality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What the executable exposes from the kriging engine.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9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581912"/>
            <a:ext cx="502920" cy="5029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5819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OK / 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24A"/>
                </a:solidFill>
              </a:rPr>
              <a:t>Ordinary and simple kriging; point or block targets.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F5FBFA"/>
          </a:solidFill>
          <a:ln w="12700">
            <a:solidFill>
              <a:srgbClr val="D9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581912"/>
            <a:ext cx="502920" cy="50292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5819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Co-kriging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6636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24A"/>
                </a:solidFill>
              </a:rPr>
              <a:t>Primary, secondary, and cross-variograms for two-variable workflows.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9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5819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58191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KED / UK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2396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24A"/>
                </a:solidFill>
              </a:rPr>
              <a:t>External drift fields through observation and block drift columns.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F5FBFA"/>
          </a:solidFill>
          <a:ln w="12700">
            <a:solidFill>
              <a:srgbClr val="D9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050792"/>
            <a:ext cx="502920" cy="5029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05079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SGSIM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24A"/>
                </a:solidFill>
              </a:rPr>
              <a:t>Sequential Gaussian simulation with seed, path, and sample controls.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F6F9FC"/>
          </a:solidFill>
          <a:ln w="12700">
            <a:solidFill>
              <a:srgbClr val="D9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4050792"/>
            <a:ext cx="502920" cy="50292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405079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Anisotropy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66360" y="4480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24A"/>
                </a:solidFill>
              </a:rPr>
              <a:t>Angles, anisotropy ratios, and anisotropic neighbor search.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046720" y="3886200"/>
            <a:ext cx="3108960" cy="1508760"/>
          </a:xfrm>
          <a:prstGeom prst="roundRect">
            <a:avLst>
              <a:gd name="adj" fmla="val 7273"/>
            </a:avLst>
          </a:prstGeom>
          <a:solidFill>
            <a:srgbClr val="F5FBFA"/>
          </a:solidFill>
          <a:ln w="12700">
            <a:solidFill>
              <a:srgbClr val="D9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405079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405079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Diagnostics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823960" y="4480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324A"/>
                </a:solidFill>
              </a:rPr>
              <a:t>LOOCV, matrix writing, verbose run summary, failure continuation.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Features summarized from pyKriging README and SPARKS CLI options.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File-based interface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Simple text files in; estimates, simulations, and weights out.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828800" cy="1143000"/>
          </a:xfrm>
          <a:prstGeom prst="chevron">
            <a:avLst/>
          </a:prstGeom>
          <a:solidFill>
            <a:srgbClr val="0E5A8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11226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obsfile1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obsfile2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0" y="2395728"/>
            <a:ext cx="365760" cy="0"/>
          </a:xfrm>
          <a:prstGeom prst="line">
            <a:avLst/>
          </a:prstGeom>
          <a:noFill/>
          <a:ln w="12700">
            <a:solidFill>
              <a:srgbClr val="8AA6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828800" cy="1143000"/>
          </a:xfrm>
          <a:prstGeom prst="chevron">
            <a:avLst/>
          </a:prstGeom>
          <a:solidFill>
            <a:srgbClr val="18A6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11226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variograms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angles / search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395728"/>
            <a:ext cx="365760" cy="0"/>
          </a:xfrm>
          <a:prstGeom prst="line">
            <a:avLst/>
          </a:prstGeom>
          <a:noFill/>
          <a:ln w="12700">
            <a:solidFill>
              <a:srgbClr val="8AA6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1828800"/>
            <a:ext cx="1828800" cy="1143000"/>
          </a:xfrm>
          <a:prstGeom prst="chevron">
            <a:avLst/>
          </a:prstGeom>
          <a:solidFill>
            <a:srgbClr val="0E5A8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6088" y="211226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blocks + grid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weights / drift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2395728"/>
            <a:ext cx="365760" cy="0"/>
          </a:xfrm>
          <a:prstGeom prst="line">
            <a:avLst/>
          </a:prstGeom>
          <a:noFill/>
          <a:ln w="12700">
            <a:solidFill>
              <a:srgbClr val="8AA6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828800"/>
            <a:ext cx="1828800" cy="1143000"/>
          </a:xfrm>
          <a:prstGeom prst="chevron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211226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solve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kriging or SGSIM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89720" y="2395728"/>
            <a:ext cx="365760" cy="0"/>
          </a:xfrm>
          <a:prstGeom prst="line">
            <a:avLst/>
          </a:prstGeom>
          <a:noFill/>
          <a:ln w="12700">
            <a:solidFill>
              <a:srgbClr val="8AA6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1828800"/>
            <a:ext cx="1828800" cy="1143000"/>
          </a:xfrm>
          <a:prstGeom prst="chevron">
            <a:avLst/>
          </a:prstGeom>
          <a:solidFill>
            <a:srgbClr val="0E5A8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6648" y="211226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outfile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facfile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9319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7FAFD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60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6"/>
                </a:solidFill>
              </a:rPr>
              <a:t>CLI mode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526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24A"/>
                </a:solidFill>
              </a:rPr>
              <a:t>One executable call can specify dimensions, observations, variograms, anisotropy, simulation, and output format.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6520" y="39319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5FBFA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6"/>
                </a:solidFill>
              </a:rPr>
              <a:t>Namelist mode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4526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24A"/>
                </a:solidFill>
              </a:rPr>
              <a:t>A single .nml file stores a reproducible project configuration for batch runs and version control.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SPARKS options include obsfile1/2, gridfile, blockfile, facfile, randpath, samfile, rangescale, localnugget, and namelist.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for speed and repeatability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Object-oriented Fortran core, search acceleration, and controlled stochastic runs.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0B3D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5727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SPARKS executable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CLI / namelist parser; reads files and writes results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8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243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t_kriging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624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set_vgm, set_obs, set_grid, set_sim, set_search, solve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52044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0E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675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Search + solver workspace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3675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k-d trees, matrices, RHS, weights, thread-private contexts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457200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5A62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7274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Fortran numerics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4727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variogram, rotation, Gaussian quadrature, LAPACK-style solver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60920" y="1591056"/>
            <a:ext cx="0" cy="658368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7556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66"/>
                </a:solidFill>
              </a:rPr>
              <a:t>OpenMP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78240" y="17739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</a:rPr>
              <a:t>parallel block loop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2825496"/>
            <a:ext cx="0" cy="658368"/>
          </a:xfrm>
          <a:prstGeom prst="line">
            <a:avLst/>
          </a:prstGeom>
          <a:noFill/>
          <a:ln w="12700">
            <a:solidFill>
              <a:srgbClr val="0E5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29900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6"/>
                </a:solidFill>
              </a:rPr>
              <a:t>KD-tree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9720" y="3008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</a:rPr>
              <a:t>fast neighborhood search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0920" y="4059936"/>
            <a:ext cx="0" cy="658368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42245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66"/>
                </a:solidFill>
              </a:rPr>
              <a:t>Factor files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89720" y="42428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8"/>
                </a:solidFill>
              </a:rPr>
              <a:t>reuse kriging weights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kriging.F90 notes: OpenMP block loop, thread-private contexts, k-d tree search, and factor-file weight reuse.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Kriging and SGSIM in one execution model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Same spatial model, two outputs: best estimate or conditional realizations.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6"/>
                </a:solidFill>
              </a:rPr>
              <a:t>Kriging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231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359152"/>
            <a:ext cx="96012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8880" y="2103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2231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2359152"/>
            <a:ext cx="100584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103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2231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359152"/>
            <a:ext cx="100584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60720" y="2103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2231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z*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084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Build covariance matrix → solve weights → estimate and variance.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6"/>
                </a:solidFill>
              </a:rPr>
              <a:t>SGSIM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8680" y="4389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517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path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4645152"/>
            <a:ext cx="96012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68880" y="4389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4517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cond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71800" y="4645152"/>
            <a:ext cx="100584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14800" y="4389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9664" y="4517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4645152"/>
            <a:ext cx="1005840" cy="0"/>
          </a:xfrm>
          <a:prstGeom prst="line">
            <a:avLst/>
          </a:prstGeom>
          <a:noFill/>
          <a:ln w="12700">
            <a:solidFill>
              <a:srgbClr val="18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43891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4517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6"/>
                </a:solidFill>
              </a:rPr>
              <a:t>sim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3616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4A"/>
                </a:solidFill>
              </a:rPr>
              <a:t>Visit grid in random path; condition on observations plus prior simulated cells.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3429000"/>
            <a:ext cx="10332720" cy="0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SGSIM uses block%order for random path and sample(s,ib) to draw z_sim = z_est + sqrt(var) * sample.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Anisotropy and local controls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Designed for geostatistical workflows where the covariance model changes with context.</a:t>
            </a:r>
            <a:endParaRPr lang="en-US" sz="1150" dirty="0"/>
          </a:p>
        </p:txBody>
      </p:sp>
      <p:pic>
        <p:nvPicPr>
          <p:cNvPr id="5" name="Image 0" descr="/mnt/data/stationary_anisotropy_ellipses.png">    </p:cNvPr>
          <p:cNvPicPr>
            <a:picLocks noChangeAspect="1"/>
          </p:cNvPicPr>
          <p:nvPr/>
        </p:nvPicPr>
        <p:blipFill>
          <a:blip r:embed="rId1"/>
          <a:srcRect l="0" r="0" t="765" b="765"/>
          <a:stretch/>
        </p:blipFill>
        <p:spPr>
          <a:xfrm>
            <a:off x="685800" y="1417320"/>
            <a:ext cx="3429000" cy="3429000"/>
          </a:xfrm>
          <a:prstGeom prst="rect">
            <a:avLst/>
          </a:prstGeom>
        </p:spPr>
      </p:pic>
      <p:pic>
        <p:nvPicPr>
          <p:cNvPr id="6" name="Image 1" descr="/mnt/data/ps_local_anisotropy_ellipses.png">    </p:cNvPr>
          <p:cNvPicPr>
            <a:picLocks noChangeAspect="1"/>
          </p:cNvPicPr>
          <p:nvPr/>
        </p:nvPicPr>
        <p:blipFill>
          <a:blip r:embed="rId2"/>
          <a:srcRect l="0" r="0" t="765" b="765"/>
          <a:stretch/>
        </p:blipFill>
        <p:spPr>
          <a:xfrm>
            <a:off x="4434840" y="1417320"/>
            <a:ext cx="3429000" cy="3429000"/>
          </a:xfrm>
          <a:prstGeom prst="rect">
            <a:avLst/>
          </a:prstGeom>
        </p:spPr>
      </p:pic>
      <p:pic>
        <p:nvPicPr>
          <p:cNvPr id="7" name="Image 2" descr="/mnt/data/stationary_vs_ps_covariance_contours.png">    </p:cNvPr>
          <p:cNvPicPr>
            <a:picLocks noChangeAspect="1"/>
          </p:cNvPicPr>
          <p:nvPr/>
        </p:nvPicPr>
        <p:blipFill>
          <a:blip r:embed="rId3"/>
          <a:srcRect l="0" r="0" t="2367" b="2367"/>
          <a:stretch/>
        </p:blipFill>
        <p:spPr>
          <a:xfrm>
            <a:off x="8183880" y="1417320"/>
            <a:ext cx="3429000" cy="3429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5074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66"/>
                </a:solidFill>
              </a:rPr>
              <a:t>Global anisotropy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709160" y="5074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66"/>
                </a:solidFill>
              </a:rPr>
              <a:t>Local anisotropy field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549640" y="5074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66"/>
                </a:solidFill>
              </a:rPr>
              <a:t>Covariance behavior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051560" y="553212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2324A"/>
                </a:solidFill>
              </a:rPr>
              <a:t>Current SPARKS supports angle/ratio anisotropy, anisotropic search, per-block range scale, and local nugget; these create a strong base for future local-anisotropy modes.</a:t>
            </a:r>
            <a:endParaRPr lang="en-US" sz="1330" dirty="0"/>
          </a:p>
        </p:txBody>
      </p:sp>
      <p:sp>
        <p:nvSpPr>
          <p:cNvPr id="12" name="Text 7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Figures are illustrative; feature basis from README + SPARKS options: ang1/2/3, anis1/2, anisosearch, rangescale, localnugget.</a:t>
            </a:r>
            <a:endParaRPr lang="en-US" sz="680" dirty="0"/>
          </a:p>
        </p:txBody>
      </p:sp>
      <p:sp>
        <p:nvSpPr>
          <p:cNvPr id="13" name="Text 8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SPARKS is strong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Not a GUI replacement; a production-oriented executable for scripted geostatistics.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7FAFD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91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5D6B78"/>
                </a:solidFill>
              </a:rPr>
              <a:t>Python-only prototypes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3703320" y="1536192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591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A6A6"/>
                </a:solidFill>
              </a:rPr>
              <a:t>SPARKS advantage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5000" y="15727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2324A"/>
                </a:solidFill>
              </a:rPr>
              <a:t>Compiled Fortran engine for heavier grids and batch execution.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5FBFA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42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5D6B78"/>
                </a:solidFill>
              </a:rPr>
              <a:t>Desktop GUI workflows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3703320" y="2587752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6426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A6A6"/>
                </a:solidFill>
              </a:rPr>
              <a:t>SPARKS advantage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2624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2324A"/>
                </a:solidFill>
              </a:rPr>
              <a:t>Project runs can be fully scripted, versioned, and repeated.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7FAFD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941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5D6B78"/>
                </a:solidFill>
              </a:rPr>
              <a:t>General-purpose GP libraries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3703320" y="3639312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36941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A6A6"/>
                </a:solidFill>
              </a:rPr>
              <a:t>SPARKS advantage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15000" y="36758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2324A"/>
                </a:solidFill>
              </a:rPr>
              <a:t>Geostatistical concepts are first-class: block kriging, variograms, anisotropic search, SGSIM.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777240" y="457200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5FBFA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7457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5D6B78"/>
                </a:solidFill>
              </a:rPr>
              <a:t>One-off simulation scripts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3703320" y="4690872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47457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A6A6"/>
                </a:solidFill>
              </a:rPr>
              <a:t>SPARKS advantage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15000" y="47274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2324A"/>
                </a:solidFill>
              </a:rPr>
              <a:t>Path/sample control and factor-file reuse support reproducible ensembles.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1051560" y="5742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66"/>
                </a:solidFill>
              </a:rPr>
              <a:t>Best fit: hydrogeology, mining, environmental mapping, uncertainty ensembles, pilot-point studies, and repeatable model preprocessing.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Comparison is based on design orientation, not benchmark claims.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typical run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Compact command-line execution with transparent inputs and outputs.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6492240" cy="4343400"/>
          </a:xfrm>
          <a:prstGeom prst="roundRect">
            <a:avLst>
              <a:gd name="adj" fmla="val 1684"/>
            </a:avLst>
          </a:prstGeom>
          <a:solidFill>
            <a:srgbClr val="101D2B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58978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sparks -d 2 1500 25000 0 0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-of obs.csv -bf blocks.csv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-v1 sph 1200 1.0 0.05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-a1 35 -s1 0.45 -as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-n1 48 -u -xy estimates.csv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3657600"/>
            <a:ext cx="5897880" cy="0"/>
          </a:xfrm>
          <a:prstGeom prst="line">
            <a:avLst/>
          </a:prstGeom>
          <a:noFill/>
          <a:ln w="12700">
            <a:solidFill>
              <a:srgbClr val="335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977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Outputs can include estimated values, kriging variance, coordinates, debugging matrices, or reusable factor files depending on flags.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566160" cy="4343400"/>
          </a:xfrm>
          <a:prstGeom prst="roundRect">
            <a:avLst>
              <a:gd name="adj" fmla="val 2051"/>
            </a:avLst>
          </a:prstGeom>
          <a:solidFill>
            <a:srgbClr val="F5FBFA"/>
          </a:solidFill>
          <a:ln w="12700">
            <a:solidFill>
              <a:srgbClr val="D9E6E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2057400"/>
            <a:ext cx="2743200" cy="1828800"/>
          </a:xfrm>
          <a:prstGeom prst="parallelogram">
            <a:avLst/>
          </a:prstGeom>
          <a:solidFill>
            <a:srgbClr val="5EE0D3">
              <a:alpha val="88000"/>
            </a:srgbClr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233172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274320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315468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356616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233172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274320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315468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356616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0" y="233172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274320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315468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3566160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233172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274320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1240" y="3154680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3566160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0" y="2331720"/>
            <a:ext cx="73152" cy="73152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0" y="2743200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0" y="3154680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0" y="3566160"/>
            <a:ext cx="73152" cy="73152"/>
          </a:xfrm>
          <a:prstGeom prst="ellipse">
            <a:avLst/>
          </a:prstGeom>
          <a:solidFill>
            <a:srgbClr val="18A6A6"/>
          </a:solidFill>
          <a:ln w="12700">
            <a:solidFill>
              <a:srgbClr val="18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2651760"/>
            <a:ext cx="502920" cy="502920"/>
          </a:xfrm>
          <a:prstGeom prst="star5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Script → map / ensemble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Command shown is illustrative; option names come from SPARKS source.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roadmap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18A6A6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92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8"/>
                </a:solidFill>
              </a:rPr>
              <a:t>A focused path from robust estimator to richer research platform.</a:t>
            </a:r>
            <a:endParaRPr lang="en-US" sz="1150" dirty="0"/>
          </a:p>
        </p:txBody>
      </p:sp>
      <p:pic>
        <p:nvPicPr>
          <p:cNvPr id="5" name="Image 0" descr="/mnt/data/ghostwriter_images/generated/a_clean_vector_style_logo_design_on_a_white_backgr_1.png">    </p:cNvPr>
          <p:cNvPicPr>
            <a:picLocks noChangeAspect="1"/>
          </p:cNvPicPr>
          <p:nvPr/>
        </p:nvPicPr>
        <p:blipFill>
          <a:blip r:embed="rId1"/>
          <a:srcRect l="0" r="0" t="1953" b="1953"/>
          <a:stretch/>
        </p:blipFill>
        <p:spPr>
          <a:xfrm>
            <a:off x="731520" y="1417320"/>
            <a:ext cx="4480560" cy="2423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508760"/>
            <a:ext cx="502920" cy="5029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4768" y="164592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75120" y="15270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Stable CLI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75120" y="1874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8"/>
                </a:solidFill>
              </a:rPr>
              <a:t>tests, examples, CI binaries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0780" y="2039112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569464"/>
            <a:ext cx="502920" cy="502920"/>
          </a:xfrm>
          <a:prstGeom prst="ellipse">
            <a:avLst/>
          </a:prstGeom>
          <a:solidFill>
            <a:srgbClr val="18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270662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5877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Local anisotropy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75120" y="29352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8"/>
                </a:solidFill>
              </a:rPr>
              <a:t>target-local rotmat; then optional Paciorek–Schervish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40780" y="3099816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9320" y="3630168"/>
            <a:ext cx="502920" cy="50292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44768" y="376732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75120" y="36484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Space-time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75120" y="39959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8"/>
                </a:solidFill>
              </a:rPr>
              <a:t>ST variograms, time scaling, reproducible ST simulations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40780" y="4160520"/>
            <a:ext cx="0" cy="530352"/>
          </a:xfrm>
          <a:prstGeom prst="line">
            <a:avLst/>
          </a:prstGeom>
          <a:noFill/>
          <a:ln w="12700">
            <a:solidFill>
              <a:srgbClr val="D9E6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4690872"/>
            <a:ext cx="502920" cy="50292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482803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47091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6"/>
                </a:solidFill>
              </a:rPr>
              <a:t>Packaging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675120" y="5056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8"/>
                </a:solidFill>
              </a:rPr>
              <a:t>release artifacts, docs, example datasets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14400" y="5577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324A"/>
                </a:solidFill>
              </a:rPr>
              <a:t>SPARKS aims to make advanced kriging workflows portable, testable, and repeatable — without hiding the geostatistics.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502920" y="6437376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7A3"/>
                </a:solidFill>
              </a:rPr>
              <a:t>Suggested roadmap derived from current SPARKS capabilities and your planned extensions.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SPARKS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SPARKS: Spatial Kriging &amp; Simulation</dc:title>
  <dc:subject>SPARKS kriging tool overview</dc:subject>
  <dc:creator>OpenAI</dc:creator>
  <cp:lastModifiedBy>OpenAI</cp:lastModifiedBy>
  <cp:revision>1</cp:revision>
  <dcterms:created xsi:type="dcterms:W3CDTF">2026-05-25T13:30:26Z</dcterms:created>
  <dcterms:modified xsi:type="dcterms:W3CDTF">2026-05-25T13:30:26Z</dcterms:modified>
</cp:coreProperties>
</file>